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0" y="-182880"/>
            <a:ext cx="502920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</a:t>
            </a:r>
            <a:endParaRPr lang="en-US" sz="28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Spring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 Editorial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11480" y="2633472"/>
            <a:ext cx="310896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9806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Club  ·  Northern Highlands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1455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133  ·  April 20, 2026  ·  2:45 PM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3749040"/>
            <a:ext cx="2011680" cy="685800"/>
          </a:xfrm>
          <a:prstGeom prst="rect">
            <a:avLst/>
          </a:prstGeom>
          <a:solidFill>
            <a:srgbClr val="052E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Problems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Overview  ·  What We're Covering Today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9377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937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04288" y="493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86784" y="4937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493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694944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71323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7132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04288" y="713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86784" y="777240"/>
            <a:ext cx="932688" cy="19202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86784" y="777240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7132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formula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" y="10424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10424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04288" y="10424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86784" y="1106424"/>
            <a:ext cx="932688" cy="19202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6784" y="1106424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10424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13716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04288" y="13716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86784" y="1435608"/>
            <a:ext cx="932688" cy="19202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86784" y="1435608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1371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Two-pointer greedy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" y="17007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17007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04288" y="17007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1+3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86784" y="1764792"/>
            <a:ext cx="932688" cy="19202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86784" y="1764792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17007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 / CRT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" y="20299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20299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Fill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304288" y="20299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2+2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86784" y="2093976"/>
            <a:ext cx="932688" cy="19202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86784" y="2093976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0" y="20299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/ Slope Trick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2880" y="23591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0352" y="23591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04288" y="23591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986784" y="2423160"/>
            <a:ext cx="932688" cy="19202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86784" y="2423160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0" y="23591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&amp; min volume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82880" y="2706624"/>
            <a:ext cx="8778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26883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0352" y="2688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304288" y="26883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986784" y="2752344"/>
            <a:ext cx="932688" cy="19202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86784" y="2752344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0" y="2688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(r+2c) % 5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82880" y="3035808"/>
            <a:ext cx="8778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30175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0352" y="30175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Mycelium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304288" y="30175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2+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986784" y="3081528"/>
            <a:ext cx="932688" cy="19202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86784" y="3081528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29200" y="3017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dual-queue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82880" y="3364992"/>
            <a:ext cx="8778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33467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0352" y="33467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304288" y="33467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986784" y="3410712"/>
            <a:ext cx="932688" cy="19202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86784" y="3410712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29200" y="33467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simulation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82880" y="3694176"/>
            <a:ext cx="8778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2880" y="36758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30352" y="36758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 2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304288" y="36758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986784" y="3739896"/>
            <a:ext cx="932688" cy="192024"/>
          </a:xfrm>
          <a:prstGeom prst="rect">
            <a:avLst/>
          </a:prstGeom>
          <a:solidFill>
            <a:srgbClr val="2D0D0D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986784" y="3739896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Unsolved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029200" y="36758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9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Substream construction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82880" y="4023360"/>
            <a:ext cx="8778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" y="40050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30352" y="40050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Main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304288" y="40050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986784" y="4069080"/>
            <a:ext cx="932688" cy="192024"/>
          </a:xfrm>
          <a:prstGeom prst="rect">
            <a:avLst/>
          </a:prstGeom>
          <a:solidFill>
            <a:srgbClr val="2D0D0D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86784" y="4069080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Unsolved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029200" y="40050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+ coord rotation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82880" y="4352544"/>
            <a:ext cx="8778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82880" y="433425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30352" y="43342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304288" y="43342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3+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3986784" y="4398264"/>
            <a:ext cx="932688" cy="192024"/>
          </a:xfrm>
          <a:prstGeom prst="rect">
            <a:avLst/>
          </a:prstGeom>
          <a:solidFill>
            <a:srgbClr val="2D0D0D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986784" y="4398264"/>
            <a:ext cx="932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Unsolved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029200" y="43342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+ weighted median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949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an N×M grid with values 0–4 so that every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cell's 5-cell plus-shape (cross) contains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distinct values.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384048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07008" y="1463040"/>
            <a:ext cx="384048" cy="384048"/>
          </a:xfrm>
          <a:prstGeom prst="rect">
            <a:avLst/>
          </a:prstGeom>
          <a:solidFill>
            <a:srgbClr val="052E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91056" y="1463040"/>
            <a:ext cx="384048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9105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1847088"/>
            <a:ext cx="384048" cy="384048"/>
          </a:xfrm>
          <a:prstGeom prst="rect">
            <a:avLst/>
          </a:prstGeom>
          <a:solidFill>
            <a:srgbClr val="052E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07008" y="1847088"/>
            <a:ext cx="384048" cy="384048"/>
          </a:xfrm>
          <a:prstGeom prst="rect">
            <a:avLst/>
          </a:prstGeom>
          <a:solidFill>
            <a:srgbClr val="052E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591056" y="1847088"/>
            <a:ext cx="384048" cy="384048"/>
          </a:xfrm>
          <a:prstGeom prst="rect">
            <a:avLst/>
          </a:prstGeom>
          <a:solidFill>
            <a:srgbClr val="052E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91056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2231136"/>
            <a:ext cx="384048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07008" y="2231136"/>
            <a:ext cx="384048" cy="384048"/>
          </a:xfrm>
          <a:prstGeom prst="rect">
            <a:avLst/>
          </a:prstGeom>
          <a:solidFill>
            <a:srgbClr val="052E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91056" y="2231136"/>
            <a:ext cx="384048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91056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7472" y="2688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Cross: {0,1,2,3,4}  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2651760"/>
            <a:ext cx="3657600" cy="2194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6517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2871216"/>
            <a:ext cx="3657600" cy="1234440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2898648"/>
            <a:ext cx="3474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 grid[r][c] = (r + 2c) % 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at (r,c):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center         = (r + 2c) %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up/down      = center ±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left/right     = center ±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{c-2, c-1, c, c+1, c+2} mod 5 = {0..4}  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7472" y="3968496"/>
            <a:ext cx="365760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968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(N × M)  —  two nested loops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60520" y="676656"/>
            <a:ext cx="4754880" cy="431596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0520" y="676656"/>
            <a:ext cx="822960" cy="2377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33672" y="6766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160520" y="914400"/>
            <a:ext cx="475488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06824" y="969264"/>
            <a:ext cx="44622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int[][] solve(int N, int M)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int[][] grid = new int[N][M];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r = 0; r &lt; N; r++)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c = 0; c &lt; M; c++)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grid[r][c] = (r + 2 * c) % 5;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grid;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Proof: cross at (r, c) contains: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center     = (r + 2c)       %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up/down    = (r±1 + 2c)     % 5  → center ±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left/right = (r + 2(c±1))   % 5  → center ±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{ center−2, center−1, center,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center+1, center+2 } mod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= { 0, 1, 2, 3, 4 }  ✓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Official variant uses the same idea: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grid[r][c] = (2*r + c) %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(changes by 1 horizontally, 2 vertically)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Both are valid.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0C24B"/>
          </a:solidFill>
          <a:ln w="12700">
            <a:solidFill>
              <a:srgbClr val="F0C2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0C24B"/>
          </a:solidFill>
          <a:ln w="12700">
            <a:solidFill>
              <a:srgbClr val="F0C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Mycelium  —  Problem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w="19050">
            <a:solidFill>
              <a:srgbClr val="F0C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2+3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94944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 (G) and mycelium (M) start at two points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infinite grid. Grass claims new cells every 2 ticks;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mycelium every 7 ticks. Count cells mycelium claims.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" y="1463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timeline (grass wins all ties):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691640"/>
            <a:ext cx="475488" cy="38404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691640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883664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" y="1691640"/>
            <a:ext cx="475488" cy="38404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1691640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86968" y="1883664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26464" y="1691640"/>
            <a:ext cx="475488" cy="38404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26464" y="1691640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26464" y="1883664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65960" y="1691640"/>
            <a:ext cx="475488" cy="384048"/>
          </a:xfrm>
          <a:prstGeom prst="rect">
            <a:avLst/>
          </a:prstGeom>
          <a:solidFill>
            <a:srgbClr val="2D1D00"/>
          </a:solidFill>
          <a:ln w="9525">
            <a:solidFill>
              <a:srgbClr val="F0C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1691640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65960" y="1883664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05456" y="1691640"/>
            <a:ext cx="475488" cy="38404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1691640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t=8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05456" y="1883664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44952" y="1691640"/>
            <a:ext cx="475488" cy="38404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44952" y="1691640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044952" y="1883664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84448" y="1691640"/>
            <a:ext cx="475488" cy="384048"/>
          </a:xfrm>
          <a:prstGeom prst="rect">
            <a:avLst/>
          </a:prstGeom>
          <a:solidFill>
            <a:srgbClr val="2D1D00"/>
          </a:solidFill>
          <a:ln w="9525">
            <a:solidFill>
              <a:srgbClr val="F0C2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1691640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84448" y="1883664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" y="2176272"/>
            <a:ext cx="4389120" cy="292608"/>
          </a:xfrm>
          <a:prstGeom prst="rect">
            <a:avLst/>
          </a:prstGeom>
          <a:solidFill>
            <a:srgbClr val="2D0D0D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1762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Simple formula  7·dm &lt; 2·dg  is WRONG — paths block each other!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3977640"/>
            <a:ext cx="438912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(D²·log D)  main subtask;  O(log D) closed-form for bonus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92040" y="694944"/>
            <a:ext cx="4023360" cy="2194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6949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914400"/>
            <a:ext cx="4023360" cy="1828800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941832"/>
            <a:ext cx="38404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two BFS queues with timestamps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grassQ — each cell expands at time+2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mycQ  — each cell expands at time+7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tick: process ALL grass first,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mycelium. First arrival owns the cell.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2651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steps: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2889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tiles = {G_pos→G, M_pos→M}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3163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while mycQ not empty: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3438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Drain grassQ for current tick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37124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Drain mycQ for current tick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9204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Each expansion adds neighbors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92040" y="42611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at (tick + delay) to its queue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92040" y="4535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tiles with value 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0C24B"/>
          </a:solidFill>
          <a:ln w="12700">
            <a:solidFill>
              <a:srgbClr val="F0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Mycelium  —  Java Implementation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877824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int G=2, M=7;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int[][] DIRS={{0,1},{0,-1},{1,0},{-1,0}};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long key(long x,long y){return x*2_000_000_007L+y;}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long solve(int xg,int yg,int xm,int ym)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Deque&lt;long[]&gt; gQ=new ArrayDeque&lt;&gt;(), mQ=new ArrayDeque&lt;&gt;();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Map&lt;Long,Character&gt; tiles=new HashMap&lt;&gt;();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tiles.put(key(xg,yg),'G'); tiles.put(key(xm,ym),'M');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gQ.add(new long[]{xg,yg,G}); mQ.add(new long[]{xm,ym,M});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time=1;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(!mQ.isEmpty())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Grass FIRST at each tick — wins ties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(!gQ.isEmpty() &amp;&amp; gQ.peek()[2]==time)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long[] c=gQ.poll();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(int[] d:DIRS)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long nx=c[0]+d[0], ny=c[1]+d[1];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(tiles.putIfAbsent(key(nx,ny),'G')==null)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gQ.add(new long[]{nx,ny,time+G});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(!mQ.isEmpty() &amp;&amp; mQ.peek()[2]==time)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long[] c=mQ.poll();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(int[] d:DIRS)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long nx=c[0]+d[0], ny=c[1]+d[1];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(tiles.putIfAbsent(key(nx,ny),'M')==null)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mQ.add(new long[]{nx,ny,time+M});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time++;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Collections.frequency(tiles.values(),'M');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  —  Problem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 grid has conveyors (^v&lt;&gt;), splitters (S),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destroyers (X). Items enter at (0,0).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items exits the grid boundary?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" y="1463040"/>
            <a:ext cx="402336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" y="1901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37360" y="1463040"/>
            <a:ext cx="402336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1901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27248" y="1463040"/>
            <a:ext cx="402336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7248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27248" y="1901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21945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splits equally among valid exits: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Valid = destroy tile OR conveyor NOT pointing back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(N × M)  —  BFS topological traversal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28032" y="914400"/>
            <a:ext cx="4059936" cy="2286000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941832"/>
            <a:ext cx="38770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probability as EXACT fractions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(BigDecimal or Fraction), not floats.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from (0,0):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Conveyor → pass all prob to next cell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Splitter → divide equally among exits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Destroyer → prob is lost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Off-grid → collected!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answer as reduced fraction p/q.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312724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exact fractions?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28032" y="3364992"/>
            <a:ext cx="4059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 divide by 2 or 3. After many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divisions, floating-point error accumulates.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BigDecimal with scale=20 is exact.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  —  Java Implementation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877824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BigDecimal[] solve(int N, int M, char[][] grid)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Map&lt;Integer,BigDecimal&gt; prob = new HashMap&lt;&gt;();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prob.put(0, BigDecimal.ONE);            // enters at (0,0)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BigDecimal out = BigDecimal.ZERO;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Deque&lt;int[]&gt; Q = new ArrayDeque&lt;&gt;();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Q.add(new int[]{0,0});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boolean[] seen = new boolean[N*M];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(!Q.isEmpty())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int[] rc=Q.poll(); int r=rc[0],c=rc[1],id=r*M+c;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(seen[id]) continue;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seen[id]=true;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BigDecimal p=prob.getOrDefault(id,BigDecimal.ZERO);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(p.signum()==0) continue;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char t=grid[r][c];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(t=='X') continue;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("^v&lt;&gt;".indexOf(t)&gt;=0)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int[] nx=step(r,c,t);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(inBounds(nx[0],nx[1],N,M))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prob.merge(nx[0]*M+nx[1],p,BigDecimal::add);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Q.add(nx);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 else out=out.add(p);      // exits grid → collected!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if (t=='S')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List&lt;int[]&gt; exits=validExits(r,c,grid,N,M);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BigDecimal share=p.divide(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BigDecimal.valueOf(exits.size()),20,HALF_UP);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(int[] e:exits)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prob.merge(e[0]*M+e[1],share,BigDecimal::add);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Q.add(e);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reduceFraction(out);   // → {numerator, denominator}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B792F5"/>
          </a:solidFill>
          <a:ln w="12700">
            <a:solidFill>
              <a:srgbClr val="B79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B792F5"/>
          </a:solidFill>
          <a:ln w="12700">
            <a:solidFill>
              <a:srgbClr val="B79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 2  —  Problem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w="19050">
            <a:solidFill>
              <a:srgbClr val="B79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9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P, A, B — construct a factory grid (≤5000 cells)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collects exactly  P / (2^A × 3^B)  of items.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grid dimensions and tile layout.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691640"/>
            <a:ext cx="42976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691640"/>
            <a:ext cx="54864" cy="320040"/>
          </a:xfrm>
          <a:prstGeom prst="rect">
            <a:avLst/>
          </a:prstGeom>
          <a:solidFill>
            <a:srgbClr val="B792F5"/>
          </a:solidFill>
          <a:ln w="12700">
            <a:solidFill>
              <a:srgbClr val="B79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691640"/>
            <a:ext cx="4169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split   routes 1/2 each to 2 exits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472" y="2057400"/>
            <a:ext cx="42976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057400"/>
            <a:ext cx="54864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057400"/>
            <a:ext cx="4169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split   routes 1/3 each to 3 exits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2423160"/>
            <a:ext cx="42976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423160"/>
            <a:ext cx="54864" cy="320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423160"/>
            <a:ext cx="4169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tile   discards unwanted stream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(A + B + log P)  grid rows to construct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28032" y="914400"/>
            <a:ext cx="4059936" cy="1920240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941832"/>
            <a:ext cx="387705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 rows of 2-way splits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produces 2^A equal substreams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B rows of 3-way splits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produces 2^A × 3^B equal substreams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exactly P of those substreams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output conveyor.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the remaining streams.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2743200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P=3, A=2, B=1  →  3/12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301752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0: [S]           → 1/2 each (2 streams)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8032" y="331012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1: [S] [S]       → 1/4 each (4 streams)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28032" y="360273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2: [S][S][S][S]  → 1/12 each (12 streams)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8032" y="389534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3: [&gt;][X][&gt;][X][&gt;][X]...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4187952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keep drop  keep drop  keep drop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28032" y="448056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9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collects exactly 3 × 1/12 = 1/4 ✓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Main  —  Problem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N×M lecture hall has available (-) and blocked (#)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seats. Select K seats that minimize the maximum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 between any two chosen seats.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rotation trick: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42976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7007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44752" y="17007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(r, c)  →  (u, v) = (r+c, r-c)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029968"/>
            <a:ext cx="42976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29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44752" y="20299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  →  Chebyshev dist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2359152"/>
            <a:ext cx="42976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359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44752" y="2359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max(|Δu|, |Δv|)  ≤  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2688336"/>
            <a:ext cx="42976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6883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shape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44752" y="2688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 →  Axis-aligned square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(K² × log(N+M))  binary search × window check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28032" y="914400"/>
            <a:ext cx="4059936" cy="2834640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941832"/>
            <a:ext cx="387705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on D (the answer)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Map each available seat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(u, v) = (r+c, r-c)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2D prefix-sum array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O(1) count in any rectangle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 each D, check all windows 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size 2D × 2D in (u,v) space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Any window with ≥ K seats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D is achievable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365760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rotation help?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3895344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ball is a diamond — hard to query.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rotation it becomes a square — easy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query with a 2D prefix sum!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Main  —  Java Implementation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877824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Transform (r,c) → (u,v)=(r+c, r-c): Manhattan → Chebyshev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minMaxDist(List&lt;int[]&gt; seats,int K,int N,int M)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S=seats.size(), maxU=N+M-1, maxV=N+M-1;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int[][] uv=new int[S][4];     // [u, v, r, c]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i=0;i&lt;S;i++)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r=seats.get(i)[0], c=seats.get(i)[1];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uv[i]=new int[]{r+c, r-c+N-1, r, c};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2D prefix-sum → O(1) rectangle count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int[][] grid=new int[maxU][maxV];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(int[] s:uv) grid[s[0]][s[1]]++;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int[][] p=buildPrefixSum(grid,maxU,maxV);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Binary search on 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lo=0,hi=N+M;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(lo&lt;hi)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mid=(lo+hi)/2;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(canFit(uv,p,mid,K,maxV)) hi=mid; else lo=mid+1;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boolean canFit(int[][] uv,int[][] p,int D,int K,int mV){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(int[] a:uv)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u2=Math.min(a[0]+2*D,p.length-2);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v2=Math.min(a[1]+2*D,mV-1);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(p[u2+1][v2+1]-p[a[0]][v2+1]-p[u2+1][a[1]]+p[a[0]][a[1]]&gt;=K)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buildPrefixSum: standard 2D prefix-sum, O(R·C) build / O(1) query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Easy  —  Problem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 positive integers a[1..N] to best satisfy 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constraints:  a[r] × a[c] ≈ V (weight W).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optimizing, discard D highest-error constraints.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 →  linear regression: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170078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a[r] × a[c]  ≈  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" y="19568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⟹  log(a[r]) + log(a[c])  ≈  log(V)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" y="221284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⟹  x[r] + x[c]  ≈  log(V)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" y="2468880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 x[i] = log(a[i])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" y="272491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each constraint is  x[r] + x[c] ≈ log(V),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linear — solvable by coordinate descent!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(iters × N × M)  ~100 iterations to converge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28032" y="914400"/>
            <a:ext cx="4059936" cy="2468880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941832"/>
            <a:ext cx="38770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Coordinate Descent: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variable x[i], fix all others.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x[i] = weighted median 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 log(V) − x[j]  for each constraint on i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50–100 iterations until stable.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result: a[i] = round(exp(x[i]))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Finally: compute per-constraint error,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the D with highest error.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329184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weighted median (not mean)?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3538728"/>
            <a:ext cx="4059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minimize weighted L1 error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L2). L1 is minimized by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median, not the mean.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Easy  —  Java Implementation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877824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cons[i] = {r, c, V, W}  (1-indexed r and 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int[] solve(int N,int M,int D,int[][] cons)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double[] x=new double[N+1];     // x[i] = log(a[i])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iter=0;iter&lt;100;iter++) {   // coordinate descent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i=1;i&lt;=N;i++)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List&lt;double[]&gt; tgts=new ArrayList&lt;&gt;();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(int[] con:cons)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(con[0]==i) tgts.add(new double[]{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Math.log(con[2])-x[con[1]], con[3]});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else if (con[1]==i) tgts.add(new double[]{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Math.log(con[2])-x[con[0]], con[3]});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(!tgts.isEmpty()) x[i]=weightedMedian(tgts);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 a=new int[N+1];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i=1;i&lt;=N;i++)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a[i]=(int)Math.max(1,Math.min(1e9,Math.round(Math.exp(x[i]))));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double[] err=new double[cons.length];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i=0;i&lt;cons.length;i++)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pred=(long)a[cons[i][0]]*a[cons[i][1]];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err[i]=cons[i][3]*Math.abs(pred-cons[i][2])/(double)cons[i][2];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discardTopD(err,D);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double weightedMedian(List&lt;double[]&gt; vw)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vw.sort(Comparator.comparingDouble(p-&gt;p[0]));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tot=vw.stream().mapToDouble(p-&gt;p[1]).sum(), cum=0;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(double[] p:vw) { cum+=p[1]; if (cum*2&gt;=tot) return p[0];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vw.get(vw.size()-1)[0];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04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-731520"/>
            <a:ext cx="5029200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20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7400" dirty="0"/>
          </a:p>
        </p:txBody>
      </p:sp>
      <p:sp>
        <p:nvSpPr>
          <p:cNvPr id="6" name="Shape 4"/>
          <p:cNvSpPr/>
          <p:nvPr/>
        </p:nvSpPr>
        <p:spPr>
          <a:xfrm>
            <a:off x="502920" y="2121408"/>
            <a:ext cx="420624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22576"/>
            <a:ext cx="310896" cy="31089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2677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 —  (r+2c)%5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52344"/>
            <a:ext cx="310896" cy="310896"/>
          </a:xfrm>
          <a:prstGeom prst="rect">
            <a:avLst/>
          </a:prstGeom>
          <a:solidFill>
            <a:srgbClr val="F0C24B"/>
          </a:solidFill>
          <a:ln w="12700">
            <a:solidFill>
              <a:srgbClr val="F0C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Mycelium  —  BFS dual-queue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82112"/>
            <a:ext cx="310896" cy="31089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1272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  —  Exact fraction sim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310896" cy="310896"/>
          </a:xfrm>
          <a:prstGeom prst="rect">
            <a:avLst/>
          </a:prstGeom>
          <a:solidFill>
            <a:srgbClr val="B792F5"/>
          </a:solidFill>
          <a:ln w="12700">
            <a:solidFill>
              <a:srgbClr val="B792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557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 2  —  Substream construction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041648"/>
            <a:ext cx="310896" cy="31089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9867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Main  —  BinSearch + coord rotate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471416"/>
            <a:ext cx="310896" cy="31089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416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 —  Log + weighted median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754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github.com/calico-team/calico-sp26-public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CALICO Spring '26 Editorial</dc:title>
  <dc:subject>PptxGenJS Presentation</dc:subject>
  <dc:creator>CS Club</dc:creator>
  <cp:lastModifiedBy>CS Club</cp:lastModifiedBy>
  <cp:revision>1</cp:revision>
  <dcterms:created xsi:type="dcterms:W3CDTF">2026-04-21T03:15:38Z</dcterms:created>
  <dcterms:modified xsi:type="dcterms:W3CDTF">2026-04-21T03:15:38Z</dcterms:modified>
</cp:coreProperties>
</file>