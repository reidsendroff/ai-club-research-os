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0" y="274320"/>
            <a:ext cx="4114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'26</a:t>
            </a:r>
            <a:endParaRPr lang="en-US" sz="260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CALICO Spring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'26 Editorial</a:t>
            </a:r>
            <a:endParaRPr lang="en-US" sz="6200" dirty="0"/>
          </a:p>
        </p:txBody>
      </p:sp>
      <p:sp>
        <p:nvSpPr>
          <p:cNvPr id="6" name="Shape 4"/>
          <p:cNvSpPr/>
          <p:nvPr/>
        </p:nvSpPr>
        <p:spPr>
          <a:xfrm>
            <a:off x="365760" y="2743200"/>
            <a:ext cx="292608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88036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Club  ·  Northern Highlands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46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133  ·  April 20, 2026  ·  2:45 PM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3840480"/>
            <a:ext cx="1920240" cy="640080"/>
          </a:xfrm>
          <a:prstGeom prst="rect">
            <a:avLst/>
          </a:prstGeom>
          <a:solidFill>
            <a:srgbClr val="052E24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840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Problems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2179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 Overview  ·  What We're Covering Today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49377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9377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331720" y="49377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023360" y="493776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0" y="493776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" y="731520"/>
            <a:ext cx="877824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749808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74980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Piezoelectric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331720" y="74980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23360" y="804672"/>
            <a:ext cx="914400" cy="201168"/>
          </a:xfrm>
          <a:prstGeom prst="rect">
            <a:avLst/>
          </a:prstGeom>
          <a:solidFill>
            <a:srgbClr val="0D2818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0" y="8046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Solved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0" y="74980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formula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2880" y="1078992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107899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31720" y="107899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023360" y="1133856"/>
            <a:ext cx="914400" cy="201168"/>
          </a:xfrm>
          <a:prstGeom prst="rect">
            <a:avLst/>
          </a:prstGeom>
          <a:solidFill>
            <a:srgbClr val="0D2818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0" y="113385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Solved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0" y="10789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" y="1408176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140817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331720" y="140817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023360" y="1463040"/>
            <a:ext cx="914400" cy="201168"/>
          </a:xfrm>
          <a:prstGeom prst="rect">
            <a:avLst/>
          </a:prstGeom>
          <a:solidFill>
            <a:srgbClr val="0D2818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0" y="1463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Solved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0" y="140817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Two-pointer greedy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82880" y="1737360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17373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331720" y="17373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1+3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023360" y="1792224"/>
            <a:ext cx="914400" cy="201168"/>
          </a:xfrm>
          <a:prstGeom prst="rect">
            <a:avLst/>
          </a:prstGeom>
          <a:solidFill>
            <a:srgbClr val="0D2818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23360" y="17922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Solved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6400" y="173736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map / CRT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82880" y="2066544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20665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Fill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331720" y="206654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2+2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023360" y="2121408"/>
            <a:ext cx="914400" cy="201168"/>
          </a:xfrm>
          <a:prstGeom prst="rect">
            <a:avLst/>
          </a:prstGeom>
          <a:solidFill>
            <a:srgbClr val="0D2818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23360" y="21214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Solved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86400" y="206654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/ Slope Trick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82880" y="2395728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" y="23957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331720" y="239572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2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023360" y="2450592"/>
            <a:ext cx="914400" cy="201168"/>
          </a:xfrm>
          <a:prstGeom prst="rect">
            <a:avLst/>
          </a:prstGeom>
          <a:solidFill>
            <a:srgbClr val="0D2818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23360" y="245059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Solved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486400" y="239572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&amp; min volume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82880" y="2724912"/>
            <a:ext cx="8778240" cy="30175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2880" y="2724912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48640" y="272491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331720" y="272491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2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023360" y="2779776"/>
            <a:ext cx="914400" cy="201168"/>
          </a:xfrm>
          <a:prstGeom prst="rect">
            <a:avLst/>
          </a:prstGeom>
          <a:solidFill>
            <a:srgbClr val="0D2818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23360" y="27797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Solved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486400" y="272491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(r+2c) % 5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182880" y="3054096"/>
            <a:ext cx="8778240" cy="30175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82880" y="3054096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48640" y="305409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Mycelium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2331720" y="305409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2+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023360" y="3108960"/>
            <a:ext cx="914400" cy="201168"/>
          </a:xfrm>
          <a:prstGeom prst="rect">
            <a:avLst/>
          </a:prstGeom>
          <a:solidFill>
            <a:srgbClr val="0D2818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023360" y="31089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Solved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486400" y="305409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priority queue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182880" y="3383280"/>
            <a:ext cx="8778240" cy="30175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82880" y="3383280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48640" y="33832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Splitters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2331720" y="33832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2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023360" y="3438144"/>
            <a:ext cx="914400" cy="201168"/>
          </a:xfrm>
          <a:prstGeom prst="rect">
            <a:avLst/>
          </a:prstGeom>
          <a:solidFill>
            <a:srgbClr val="0D2818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023360" y="34381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Solved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486400" y="338328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simulation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182880" y="3712464"/>
            <a:ext cx="8778240" cy="30175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82880" y="3712464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548640" y="371246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Splitters2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2331720" y="371246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3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4023360" y="3767328"/>
            <a:ext cx="914400" cy="201168"/>
          </a:xfrm>
          <a:prstGeom prst="rect">
            <a:avLst/>
          </a:prstGeom>
          <a:solidFill>
            <a:srgbClr val="2D0D0D"/>
          </a:solidFill>
          <a:ln w="9525">
            <a:solidFill>
              <a:srgbClr val="FF6B6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023360" y="37673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Unsolved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5486400" y="371246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182880" y="4041648"/>
            <a:ext cx="8778240" cy="30175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82880" y="4041648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548640" y="404164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Main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2331720" y="40416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3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4023360" y="4096512"/>
            <a:ext cx="914400" cy="201168"/>
          </a:xfrm>
          <a:prstGeom prst="rect">
            <a:avLst/>
          </a:prstGeom>
          <a:solidFill>
            <a:srgbClr val="2D0D0D"/>
          </a:solidFill>
          <a:ln w="9525">
            <a:solidFill>
              <a:srgbClr val="FF6B6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023360" y="40965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Unsolved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5486400" y="404164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search + coord rotation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182880" y="4370832"/>
            <a:ext cx="8778240" cy="30175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82880" y="4370832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548640" y="437083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2331720" y="43708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3+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4023360" y="4425696"/>
            <a:ext cx="914400" cy="201168"/>
          </a:xfrm>
          <a:prstGeom prst="rect">
            <a:avLst/>
          </a:prstGeom>
          <a:solidFill>
            <a:srgbClr val="2D0D0D"/>
          </a:solidFill>
          <a:ln w="9525">
            <a:solidFill>
              <a:srgbClr val="FF6B6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023360" y="44256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Unsolved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5486400" y="437083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transform + wtd median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694944"/>
            <a:ext cx="36576" cy="41696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58368" cy="62179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0"/>
            <a:ext cx="658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04672" y="0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863840" y="128016"/>
            <a:ext cx="1188720" cy="365760"/>
          </a:xfrm>
          <a:prstGeom prst="rect">
            <a:avLst/>
          </a:prstGeom>
          <a:solidFill>
            <a:srgbClr val="161B22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280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749808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an N×M grid with values 0–4 so every interior cell's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5-cell plus-shape (cross) contains all five distinct values.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05840" y="1664208"/>
            <a:ext cx="347472" cy="34747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53312" y="1664208"/>
            <a:ext cx="347472" cy="347472"/>
          </a:xfrm>
          <a:prstGeom prst="rect">
            <a:avLst/>
          </a:prstGeom>
          <a:solidFill>
            <a:srgbClr val="052E24"/>
          </a:solidFill>
          <a:ln w="9525">
            <a:solidFill>
              <a:srgbClr val="00D4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00784" y="1664208"/>
            <a:ext cx="347472" cy="34747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2011680"/>
            <a:ext cx="347472" cy="347472"/>
          </a:xfrm>
          <a:prstGeom prst="rect">
            <a:avLst/>
          </a:prstGeom>
          <a:solidFill>
            <a:srgbClr val="052E24"/>
          </a:solidFill>
          <a:ln w="9525">
            <a:solidFill>
              <a:srgbClr val="00D4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53312" y="2011680"/>
            <a:ext cx="347472" cy="347472"/>
          </a:xfrm>
          <a:prstGeom prst="rect">
            <a:avLst/>
          </a:prstGeom>
          <a:solidFill>
            <a:srgbClr val="052E24"/>
          </a:solidFill>
          <a:ln w="9525">
            <a:solidFill>
              <a:srgbClr val="00D4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00784" y="2011680"/>
            <a:ext cx="347472" cy="347472"/>
          </a:xfrm>
          <a:prstGeom prst="rect">
            <a:avLst/>
          </a:prstGeom>
          <a:solidFill>
            <a:srgbClr val="052E24"/>
          </a:solidFill>
          <a:ln w="9525">
            <a:solidFill>
              <a:srgbClr val="00D4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2359152"/>
            <a:ext cx="347472" cy="34747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53312" y="2359152"/>
            <a:ext cx="347472" cy="347472"/>
          </a:xfrm>
          <a:prstGeom prst="rect">
            <a:avLst/>
          </a:prstGeom>
          <a:solidFill>
            <a:srgbClr val="052E24"/>
          </a:solidFill>
          <a:ln w="9525">
            <a:solidFill>
              <a:srgbClr val="00D4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00784" y="2359152"/>
            <a:ext cx="347472" cy="34747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1664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53312" y="1664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700784" y="1664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53312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700784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2359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53312" y="2359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700784" y="2359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0040" y="276148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contains {0,1,2,3,4} ✓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2651760"/>
            <a:ext cx="3566160" cy="20116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" y="2651760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2852928"/>
            <a:ext cx="3566160" cy="1051560"/>
          </a:xfrm>
          <a:prstGeom prst="rect">
            <a:avLst/>
          </a:prstGeom>
          <a:solidFill>
            <a:srgbClr val="052E24"/>
          </a:solidFill>
          <a:ln w="9525">
            <a:solidFill>
              <a:srgbClr val="00D4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2880360"/>
            <a:ext cx="338328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grid[r][c] = (r + 2c) % 5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cross at (r,c) gives values: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{center−2, center−1, center, center+1, center+2} mod 5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{0, 1, 2, 3, 4}  ✓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20040" y="3794760"/>
            <a:ext cx="356616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794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O(N × M)  —  Two nested loops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069080" y="713232"/>
            <a:ext cx="4937760" cy="425196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69080" y="713232"/>
            <a:ext cx="749808" cy="21945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23944" y="71323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069080" y="932688"/>
            <a:ext cx="493776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97096" y="987552"/>
            <a:ext cx="4681728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int[][] solve(int N, int M)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int[][] grid = new int[N][M];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r = 0; r &lt; N; r++)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c = 0; c &lt; M; c++)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grid[r][c] = (r + 2 * c) % 5;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grid;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Proof: cross at (r, c) contains: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center   = (r + 2c)     % 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up/down  = (r±1 + 2c)   % 5  →  center ±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left/right = (r + 2(c±1)) % 5  →  center ± 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{center−2, center−1, center,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center+1, center+2} mod 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= {0, 1, 2, 3, 4}  ✓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Official variant (equivalent):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grid[r][c] = (2*r + c) % 5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694944"/>
            <a:ext cx="36576" cy="4169664"/>
          </a:xfrm>
          <a:prstGeom prst="rect">
            <a:avLst/>
          </a:prstGeom>
          <a:solidFill>
            <a:srgbClr val="F0C24B"/>
          </a:solidFill>
          <a:ln w="12700">
            <a:solidFill>
              <a:srgbClr val="F0C2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58368" cy="621792"/>
          </a:xfrm>
          <a:prstGeom prst="rect">
            <a:avLst/>
          </a:prstGeom>
          <a:solidFill>
            <a:srgbClr val="F0C24B"/>
          </a:solidFill>
          <a:ln w="12700">
            <a:solidFill>
              <a:srgbClr val="F0C2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0"/>
            <a:ext cx="658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04672" y="0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Mycelium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863840" y="128016"/>
            <a:ext cx="1188720" cy="365760"/>
          </a:xfrm>
          <a:prstGeom prst="rect">
            <a:avLst/>
          </a:prstGeom>
          <a:solidFill>
            <a:srgbClr val="161B22"/>
          </a:solidFill>
          <a:ln w="19050">
            <a:solidFill>
              <a:srgbClr val="F0C2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280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2+3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74980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 (G) and mycelium (M) each start at a point on 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grid. Grass expands every 2 ticks, mycelium every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ticks. How many cells does mycelium ultimately claim?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17373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timeline: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965960"/>
            <a:ext cx="384048" cy="329184"/>
          </a:xfrm>
          <a:prstGeom prst="rect">
            <a:avLst/>
          </a:prstGeom>
          <a:solidFill>
            <a:srgbClr val="0D2818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965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0040" y="21305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" y="1965960"/>
            <a:ext cx="384048" cy="329184"/>
          </a:xfrm>
          <a:prstGeom prst="rect">
            <a:avLst/>
          </a:prstGeom>
          <a:solidFill>
            <a:srgbClr val="0D2818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1965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77240" y="21305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234440" y="1965960"/>
            <a:ext cx="384048" cy="329184"/>
          </a:xfrm>
          <a:prstGeom prst="rect">
            <a:avLst/>
          </a:prstGeom>
          <a:solidFill>
            <a:srgbClr val="0D2818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1965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t=6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234440" y="21305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691640" y="1965960"/>
            <a:ext cx="384048" cy="329184"/>
          </a:xfrm>
          <a:prstGeom prst="rect">
            <a:avLst/>
          </a:prstGeom>
          <a:solidFill>
            <a:srgbClr val="2D1D00"/>
          </a:solidFill>
          <a:ln w="9525">
            <a:solidFill>
              <a:srgbClr val="F0C2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91640" y="1965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t=7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691640" y="21305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148840" y="1965960"/>
            <a:ext cx="384048" cy="329184"/>
          </a:xfrm>
          <a:prstGeom prst="rect">
            <a:avLst/>
          </a:prstGeom>
          <a:solidFill>
            <a:srgbClr val="0D2818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48840" y="1965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t=8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148840" y="21305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606040" y="1965960"/>
            <a:ext cx="384048" cy="329184"/>
          </a:xfrm>
          <a:prstGeom prst="rect">
            <a:avLst/>
          </a:prstGeom>
          <a:solidFill>
            <a:srgbClr val="0D2818"/>
          </a:solidFill>
          <a:ln w="9525">
            <a:solidFill>
              <a:srgbClr val="3FB9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06040" y="1965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t=10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606040" y="21305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063240" y="1965960"/>
            <a:ext cx="384048" cy="329184"/>
          </a:xfrm>
          <a:prstGeom prst="rect">
            <a:avLst/>
          </a:prstGeom>
          <a:solidFill>
            <a:srgbClr val="2D1D00"/>
          </a:solidFill>
          <a:ln w="9525">
            <a:solidFill>
              <a:srgbClr val="F0C2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63240" y="1965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t=14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063240" y="213055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C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0040" y="22311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Simple formula 7·dm &lt; 2·dg is WRONG — paths block each other!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2578608"/>
            <a:ext cx="3566160" cy="20116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3192" y="2578608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" y="2779776"/>
            <a:ext cx="3566160" cy="1024128"/>
          </a:xfrm>
          <a:prstGeom prst="rect">
            <a:avLst/>
          </a:prstGeom>
          <a:solidFill>
            <a:srgbClr val="052E24"/>
          </a:solidFill>
          <a:ln w="9525">
            <a:solidFill>
              <a:srgbClr val="00D4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2807208"/>
            <a:ext cx="33832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BFS with two timestamp queues: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Grass expands at cost 2 per step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Mycelium expands at cost 7 per step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 each tick, grass expands FIRST (wins ties)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First arrival claims the cell permanently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20040" y="3703320"/>
            <a:ext cx="356616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703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O(D² log D)  for main;  O(log D) closed-form bonus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069080" y="713232"/>
            <a:ext cx="4937760" cy="425196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069080" y="713232"/>
            <a:ext cx="749808" cy="21945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23944" y="71323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069080" y="932688"/>
            <a:ext cx="493776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97096" y="987552"/>
            <a:ext cx="4681728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long solve(int xg, int yg, int xm, int ym)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Deque&lt;long[]&gt; grassQ = new ArrayDeque&lt;&gt;();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Deque&lt;long[]&gt; mycQ   = new ArrayDeque&lt;&gt;();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Map&lt;Long,Character&gt; tiles = new HashMap&lt;&gt;();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tiles.put(key(xg,yg),'G');  tiles.put(key(xm,ym),'M');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grassQ.add(new long[]{xg, yg, GRASS_DELAY});  // delay=2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mycQ.add(  new long[]{xm, ym, MYC_DELAY});    // delay=7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time = 1;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(!mycQ.isEmpty())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Grass expands FIRST at each tick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(!grassQ.isEmpty()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&amp;&amp; grassQ.peek()[2] == time)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long[] c = grassQ.poll();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expand(c[0],c[1],'G',time,tiles,grassQ);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Then mycelium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(!mycQ.isEmpty()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&amp;&amp; mycQ.peek()[2] == time)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long[] c = mycQ.poll();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expand(c[0],c[1],'M',time,tiles,mycQ);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time++;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tiles.values().stream()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.filter(c -&gt; c=='M').count();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694944"/>
            <a:ext cx="36576" cy="4169664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58368" cy="62179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0"/>
            <a:ext cx="658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04672" y="0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Splitters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863840" y="128016"/>
            <a:ext cx="1188720" cy="365760"/>
          </a:xfrm>
          <a:prstGeom prst="rect">
            <a:avLst/>
          </a:prstGeom>
          <a:solidFill>
            <a:srgbClr val="161B22"/>
          </a:solidFill>
          <a:ln w="19050">
            <a:solidFill>
              <a:srgbClr val="FF8C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280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749808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factory grid has conveyors (^v&lt;&gt;), splitters (S),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destroyers (X). Items enter at (0,0). What fraction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items exits the factory?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536192"/>
            <a:ext cx="347472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536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0040" y="19019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Conveyor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490472" y="1536192"/>
            <a:ext cx="347472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90472" y="1536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C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90472" y="19019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60904" y="1536192"/>
            <a:ext cx="347472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60904" y="1536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60904" y="19019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" y="21762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→ splits equally among valid exits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item → ½ each branch → answer as p/q fraction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697480"/>
            <a:ext cx="3566160" cy="20116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" y="2697480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2898648"/>
            <a:ext cx="3566160" cy="1005840"/>
          </a:xfrm>
          <a:prstGeom prst="rect">
            <a:avLst/>
          </a:prstGeom>
          <a:solidFill>
            <a:srgbClr val="052E24"/>
          </a:solidFill>
          <a:ln w="9525">
            <a:solidFill>
              <a:srgbClr val="00D4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926080"/>
            <a:ext cx="33832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probability as exact fractions (Fraction/BigDecimal)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each tile via BFS topological traversal.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splitter S: share = p / (# valid neighbors)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Conveyor pointing OUT of grid → collected!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 tile → lost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" y="3794760"/>
            <a:ext cx="356616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794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O(N × M)  —  BFS through factory grid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069080" y="713232"/>
            <a:ext cx="4937760" cy="425196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69080" y="713232"/>
            <a:ext cx="749808" cy="21945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23944" y="71323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069080" y="932688"/>
            <a:ext cx="493776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97096" y="987552"/>
            <a:ext cx="4681728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java.math.BigDecimal;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java.math.BigInteger;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 exact fractions to avoid floating point errors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BigDecimal[] solve(int N, int M, char[][] grid)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Map&lt;Integer,BigDecimal&gt; prob = new HashMap&lt;&gt;();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prob.put(0 * M + 0, BigDecimal.ONE); // start at (0,0)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BigDecimal collected = BigDecimal.ZERO;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Deque&lt;int[]&gt; queue = new ArrayDeque&lt;&gt;();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queue.add(new int[]{0, 0});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boolean[] visited = new boolean[N * M];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(!queue.isEmpty())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int[] cell = queue.poll();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r = cell[0], c = cell[1], id = r*M+c;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(visited[id]) continue;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visited[id] = true;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BigDecimal p = prob.getOrDefault(id,BigDecimal.ZERO);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(p.equals(BigDecimal.ZERO)) continue;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char tile = grid[r][c];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(tile == 'X') continue;          // destroyed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(isConveyor(tile))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int[] next = move(r, c, tile);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(inBounds(next, N, M))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addProb(prob, queue, next, M, p);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 collected = collected.add(p); // exits!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 else if (tile == 'S')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List&lt;int[]&gt; exits = getValidExits(r,c,grid,N,M);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BigDecimal share = p.divide(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BigDecimal.valueOf(exits.size()),20,HALF_UP);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(int[] e : exits)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addProb(prob, queue, e, M, share);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Return as reduced fraction p/q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toFraction(collected);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694944"/>
            <a:ext cx="36576" cy="41696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58368" cy="62179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0"/>
            <a:ext cx="658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04672" y="0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Main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863840" y="128016"/>
            <a:ext cx="1188720" cy="365760"/>
          </a:xfrm>
          <a:prstGeom prst="rect">
            <a:avLst/>
          </a:prstGeom>
          <a:solidFill>
            <a:srgbClr val="161B22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280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749808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N×M lecture hall has available (-) and blocked (#)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seats. Pick K seats minimizing the maximum Manhattan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between any two chosen seats.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15361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rotation trick: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764792"/>
            <a:ext cx="356616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" y="17647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(r, c)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810512" y="17647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84832" y="17647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(u, v) = (r+c, r-c)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057400"/>
            <a:ext cx="356616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20574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Manhattan dist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810512" y="205740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84832" y="20574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Chebyshev dist = max(|Δu|, |Δv|)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350008"/>
            <a:ext cx="3566160" cy="25603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" y="23500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Circle of radius 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810512" y="235000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84832" y="23500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Axis-aligned square of side 2D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2724912"/>
            <a:ext cx="3566160" cy="20116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" y="2724912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2926080"/>
            <a:ext cx="3566160" cy="1051560"/>
          </a:xfrm>
          <a:prstGeom prst="rect">
            <a:avLst/>
          </a:prstGeom>
          <a:solidFill>
            <a:srgbClr val="052E24"/>
          </a:solidFill>
          <a:ln w="9525">
            <a:solidFill>
              <a:srgbClr val="00D4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2953512"/>
            <a:ext cx="338328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on D (the answer distance)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Transform seats: u=r+c, v=r-c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For each D: slide a 2D×2D window in (u,v) space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Any window containing ≥K seats → D is feasible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Use 2D prefix sums for O(1) window queries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20040" y="3858768"/>
            <a:ext cx="356616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8587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O(K² log(N+M))  binary search × window check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069080" y="713232"/>
            <a:ext cx="4937760" cy="425196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69080" y="713232"/>
            <a:ext cx="749808" cy="21945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23944" y="71323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069080" y="932688"/>
            <a:ext cx="493776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97096" y="987552"/>
            <a:ext cx="4681728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Transform: Manhattan distance → Chebyshev distance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(r,c) → (u,v) = (r+c, r-c)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int minMaxDist(List&lt;int[]&gt; seats, int K, int N, int M)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Map to (u,v) coordinates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int[][] uv = new int[seats.size()][4]; // u,v,r,c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seats.size(); i++)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r = seats.get(i)[0], c = seats.get(i)[1];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uv[i] = new int[]{r+c, r-c+N-1, r, c};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Arrays.sort(uv, Comparator.comparingInt(a -&gt; a[0]));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Build 2D prefix sum for range counting in O(1)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int[][] pref = build2DPrefixSum(uv, N, M);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Binary search on 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lo = 0, hi = N + M;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(lo &lt; hi)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mid = (lo + hi) / 2;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(canFit(uv, pref, mid, K)) hi = mid;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lo = mid + 1;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lo;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boolean canFit(int[][] uv, int[][] pref, int D, int K)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(int[] anchor : uv)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Count seats in [u, u+D] × [v, v+D] window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cnt = countInWindow(pref,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anchor[0], anchor[1], D);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(cnt &gt;= K) return true;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false;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694944"/>
            <a:ext cx="36576" cy="41696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58368" cy="6217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0"/>
            <a:ext cx="658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04672" y="0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 Easy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863840" y="128016"/>
            <a:ext cx="1188720" cy="365760"/>
          </a:xfrm>
          <a:prstGeom prst="rect">
            <a:avLst/>
          </a:prstGeom>
          <a:solidFill>
            <a:srgbClr val="161B22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280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749808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N positive integers a[1..N] to best satisfy 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constraints: a[r] × a[c] ≈ V, weighted by W.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 D constraints with the highest error.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15361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transform reduces to linear regression: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76479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a[r] × a[c] ≈ V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19842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⟹  log(a[r]) + log(a[c]) ≈ log(V)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1480" y="220370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⟹  x[r] + x[c] ≈ log(V)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11480" y="242316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x[i] = log(a[i])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2606040"/>
            <a:ext cx="3566160" cy="20116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2606040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2807208"/>
            <a:ext cx="3566160" cy="1170432"/>
          </a:xfrm>
          <a:prstGeom prst="rect">
            <a:avLst/>
          </a:prstGeom>
          <a:solidFill>
            <a:srgbClr val="052E24"/>
          </a:solidFill>
          <a:ln w="9525">
            <a:solidFill>
              <a:srgbClr val="00D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834640"/>
            <a:ext cx="33832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variable x[i], fix all others: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Optimal x[i] = weighted median of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{ log(V) − x[j]  for each constraint on i }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50–100 iterations until convergence.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round: a[i] = round(exp(x[i]))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 D constraints with worst error.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" y="3858768"/>
            <a:ext cx="356616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8587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O(iters × N × M)  —  ~100 iterations converges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069080" y="713232"/>
            <a:ext cx="4937760" cy="425196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69080" y="713232"/>
            <a:ext cx="749808" cy="21945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23944" y="71323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069080" y="932688"/>
            <a:ext cx="493776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97096" y="987552"/>
            <a:ext cx="4681728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int[] solve(int N, int M, int D,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int[][] cons)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cons[i] = {r, c, V, W}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double[] x = new double[N + 1]; // x[i] = log(a[i])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iter = 0; iter &lt; 100; iter++)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i = 1; i &lt;= N; i++)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List&lt;double[]&gt; targets = new ArrayList&lt;&gt;();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(int[] c : cons)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(c[0] == i)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targets.add(new double[]{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Math.log(c[2]) - x[c[1]], c[3]});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else if (c[1] == i)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targets.add(new double[]{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Math.log(c[2]) - x[c[0]], c[3]});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(!targets.isEmpty())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x[i] = weightedMedian(targets);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Round x[i] → a[i] = round(exp(x[i]))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int[] a = new int[N + 1];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1; i &lt;= N; i++)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a[i] = (int) Math.round(Math.exp(x[i]));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Find and discard D highest-error constraints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double[] err = new double[cons.length];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cons.length; i++)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long pred = (long)a[cons[i][0]] * a[cons[i][1]];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err[i] = cons[i][3] * Math.abs(pred-cons[i][2])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/ (double)cons[i][2];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Sort by err desc, return first D indices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discardTopD(err, D);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694944"/>
            <a:ext cx="36576" cy="4169664"/>
          </a:xfrm>
          <a:prstGeom prst="rect">
            <a:avLst/>
          </a:prstGeom>
          <a:solidFill>
            <a:srgbClr val="B792F5"/>
          </a:solidFill>
          <a:ln w="12700">
            <a:solidFill>
              <a:srgbClr val="B792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58368" cy="621792"/>
          </a:xfrm>
          <a:prstGeom prst="rect">
            <a:avLst/>
          </a:prstGeom>
          <a:solidFill>
            <a:srgbClr val="B792F5"/>
          </a:solidFill>
          <a:ln w="12700">
            <a:solidFill>
              <a:srgbClr val="B792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0"/>
            <a:ext cx="6583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04672" y="0"/>
            <a:ext cx="6949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Splitters 2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863840" y="128016"/>
            <a:ext cx="1188720" cy="365760"/>
          </a:xfrm>
          <a:prstGeom prst="rect">
            <a:avLst/>
          </a:prstGeom>
          <a:solidFill>
            <a:srgbClr val="161B22"/>
          </a:solidFill>
          <a:ln w="19050">
            <a:solidFill>
              <a:srgbClr val="B792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280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79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749808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P, A, B — construct a factory grid (≤5000 cells)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collects exactly P / (2^A × 3^B) of items entering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(0,0). Output the grid dimensions and tile layout.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15361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blocks: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764792"/>
            <a:ext cx="3566160" cy="30175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764792"/>
            <a:ext cx="54864" cy="301752"/>
          </a:xfrm>
          <a:prstGeom prst="rect">
            <a:avLst/>
          </a:prstGeom>
          <a:solidFill>
            <a:srgbClr val="B792F5"/>
          </a:solidFill>
          <a:ln w="12700">
            <a:solidFill>
              <a:srgbClr val="B792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764792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2-way split  → sends 1/2 to each of 2 exits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112264"/>
            <a:ext cx="3566160" cy="30175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112264"/>
            <a:ext cx="54864" cy="3017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112264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split  → sends 1/3 to each of 3 exits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459736"/>
            <a:ext cx="3566160" cy="30175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459736"/>
            <a:ext cx="54864" cy="3017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459736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 tile  → discards unwanted stream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798064"/>
            <a:ext cx="3566160" cy="20116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" y="2798064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2999232"/>
            <a:ext cx="3566160" cy="1051560"/>
          </a:xfrm>
          <a:prstGeom prst="rect">
            <a:avLst/>
          </a:prstGeom>
          <a:solidFill>
            <a:srgbClr val="052E24"/>
          </a:solidFill>
          <a:ln w="9525">
            <a:solidFill>
              <a:srgbClr val="00D4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026664"/>
            <a:ext cx="338328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A binary splitters → 2^A substreams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B ternary splitters → 2^A × 3^B substreams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exactly P of those substreams to the output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conveyor; destroy the remaining 2^A×3^B − P streams.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size = O(A + B + log P) rows.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" y="3931920"/>
            <a:ext cx="3566160" cy="2743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931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O(A + B + log P)  grid construction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069080" y="713232"/>
            <a:ext cx="4937760" cy="425196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069080" y="713232"/>
            <a:ext cx="749808" cy="21945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23944" y="71323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069080" y="932688"/>
            <a:ext cx="493776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97096" y="987552"/>
            <a:ext cx="4681728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Construct factory collecting P / (2^A * 3^B)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Strategy: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1. Build A rows of 2-way splitters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(each halves the stream)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2. Build B rows of 3-way splitters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(each thirds the stream)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3. Now have 2^A * 3^B equal substreams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4. Route exactly P substreams to output;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destroy the rest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Example: P=3, A=2, B=1 → 3/12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Row 0: [S]  → 1/2 each branch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Row 1: [S][S]  → 1/4 each branch (4 streams)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Row 2: [S][S][S][S] → 1/12 each (12 streams)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Row 3: collect 3 streams → [&gt;][X][&gt;][X][&gt;][X]...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                      ^    ^    ^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                     keep  drop keep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Grid dimensions: ~(A + B + 1) rows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        ~2^A * 3^B columns (worst case)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Must stay ≤ 5000 cells total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char[][] construct(long P, int A, int B)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long total = pow2(A) * pow3(B);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Build top-down using recursion or BFS layout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Base: single stream of 1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Apply A halvings, then B thirdings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Collect exactly P of the resulting substreams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... (see full implementation)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buildGrid(P, total, A, B);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104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0" y="-457200"/>
            <a:ext cx="457200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70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4114800" cy="5486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377440"/>
            <a:ext cx="274320" cy="2743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2377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 —  (r+2c)%5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798064"/>
            <a:ext cx="274320" cy="274320"/>
          </a:xfrm>
          <a:prstGeom prst="rect">
            <a:avLst/>
          </a:prstGeom>
          <a:solidFill>
            <a:srgbClr val="F0C24B"/>
          </a:solidFill>
          <a:ln w="12700">
            <a:solidFill>
              <a:srgbClr val="F0C2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98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14400" y="2798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Mycelium  —  BFS dual-queue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18688"/>
            <a:ext cx="274320" cy="27432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218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32186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Splitters  —  Exact fraction sim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639312"/>
            <a:ext cx="274320" cy="274320"/>
          </a:xfrm>
          <a:prstGeom prst="rect">
            <a:avLst/>
          </a:prstGeom>
          <a:solidFill>
            <a:srgbClr val="B792F5"/>
          </a:solidFill>
          <a:ln w="12700">
            <a:solidFill>
              <a:srgbClr val="B792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639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400" y="36393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Splitters 2  —  Substream construction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059936"/>
            <a:ext cx="274320" cy="2743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059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" y="40599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Main  —  BinSearch + coord rotate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480560"/>
            <a:ext cx="274320" cy="2743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480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4400" y="4480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  —  Log + weighted median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663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solutions &amp; this deck on GitHub: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github.com/calico-team/calico-sp26-public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CALICO Spring '26 Editorial</dc:title>
  <dc:subject>PptxGenJS Presentation</dc:subject>
  <dc:creator>CS Club</dc:creator>
  <cp:lastModifiedBy>CS Club</cp:lastModifiedBy>
  <cp:revision>1</cp:revision>
  <dcterms:created xsi:type="dcterms:W3CDTF">2026-04-21T02:56:18Z</dcterms:created>
  <dcterms:modified xsi:type="dcterms:W3CDTF">2026-04-21T02:56:18Z</dcterms:modified>
</cp:coreProperties>
</file>